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c86fd7f5864592" /><Relationship Type="http://schemas.openxmlformats.org/officeDocument/2006/relationships/extended-properties" Target="/docProps/app.xml" Id="R70a9094164d04c70" /><Relationship Type="http://schemas.openxmlformats.org/officeDocument/2006/relationships/officeDocument" Target="/ppt/presentation.xml" Id="R7de29eccdeb144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62d695979a417d"/>
  </p:sldMasterIdLst>
  <p:notesMasterIdLst>
    <p:notesMasterId xmlns:r="http://schemas.openxmlformats.org/officeDocument/2006/relationships" r:id="R877c0a4a7d544dbf"/>
  </p:notesMasterIdLst>
  <p:sldIdLst>
    <p:sldId xmlns:r="http://schemas.openxmlformats.org/officeDocument/2006/relationships" id="256" r:id="R75cfd45fa334449a"/>
    <p:sldId xmlns:r="http://schemas.openxmlformats.org/officeDocument/2006/relationships" id="257" r:id="R028f1afe92d6442e"/>
    <p:sldId xmlns:r="http://schemas.openxmlformats.org/officeDocument/2006/relationships" id="258" r:id="R240bb86afaed4dbb"/>
    <p:sldId xmlns:r="http://schemas.openxmlformats.org/officeDocument/2006/relationships" id="259" r:id="R150f0a08a8984a5a"/>
    <p:sldId xmlns:r="http://schemas.openxmlformats.org/officeDocument/2006/relationships" id="260" r:id="R9aefff50ea814e9b"/>
    <p:sldId xmlns:r="http://schemas.openxmlformats.org/officeDocument/2006/relationships" id="261" r:id="R40e61c67d7464cdb"/>
    <p:sldId xmlns:r="http://schemas.openxmlformats.org/officeDocument/2006/relationships" id="262" r:id="Rad782fbbe8384128"/>
    <p:sldId xmlns:r="http://schemas.openxmlformats.org/officeDocument/2006/relationships" id="263" r:id="R0885c1648ba94914"/>
    <p:sldId xmlns:r="http://schemas.openxmlformats.org/officeDocument/2006/relationships" id="264" r:id="R155ff6ed731640ac"/>
    <p:sldId xmlns:r="http://schemas.openxmlformats.org/officeDocument/2006/relationships" id="265" r:id="R65d03e28fd794c20"/>
    <p:sldId xmlns:r="http://schemas.openxmlformats.org/officeDocument/2006/relationships" id="266" r:id="R275fca3e43c942d0"/>
    <p:sldId xmlns:r="http://schemas.openxmlformats.org/officeDocument/2006/relationships" id="267" r:id="Ra4d96a8b93634953"/>
    <p:sldId xmlns:r="http://schemas.openxmlformats.org/officeDocument/2006/relationships" id="268" r:id="R475a412f8b9541c0"/>
    <p:sldId xmlns:r="http://schemas.openxmlformats.org/officeDocument/2006/relationships" id="269" r:id="R1f82e9b2a2084af1"/>
    <p:sldId xmlns:r="http://schemas.openxmlformats.org/officeDocument/2006/relationships" id="270" r:id="Re7e6e551af0f4b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620b1dc89946bc" /><Relationship Type="http://schemas.openxmlformats.org/officeDocument/2006/relationships/slideMaster" Target="/ppt/slideMasters/slideMaster1.xml" Id="R1e62d695979a417d" /><Relationship Type="http://schemas.openxmlformats.org/officeDocument/2006/relationships/notesMaster" Target="/ppt/notesMasters/notesMaster1.xml" Id="R877c0a4a7d544dbf" /><Relationship Type="http://schemas.openxmlformats.org/officeDocument/2006/relationships/presProps" Target="/ppt/presProps.xml" Id="Ra8c4944e6b1a4631" /><Relationship Type="http://schemas.openxmlformats.org/officeDocument/2006/relationships/tableStyles" Target="/ppt/tableStyles.xml" Id="R69e20ccc8e454288" /><Relationship Type="http://schemas.openxmlformats.org/officeDocument/2006/relationships/slide" Target="/ppt/slides/slide1.xml" Id="R75cfd45fa334449a" /><Relationship Type="http://schemas.openxmlformats.org/officeDocument/2006/relationships/slide" Target="/ppt/slides/slide2.xml" Id="R028f1afe92d6442e" /><Relationship Type="http://schemas.openxmlformats.org/officeDocument/2006/relationships/slide" Target="/ppt/slides/slide3.xml" Id="R240bb86afaed4dbb" /><Relationship Type="http://schemas.openxmlformats.org/officeDocument/2006/relationships/slide" Target="/ppt/slides/slide4.xml" Id="R150f0a08a8984a5a" /><Relationship Type="http://schemas.openxmlformats.org/officeDocument/2006/relationships/slide" Target="/ppt/slides/slide5.xml" Id="R9aefff50ea814e9b" /><Relationship Type="http://schemas.openxmlformats.org/officeDocument/2006/relationships/slide" Target="/ppt/slides/slide6.xml" Id="R40e61c67d7464cdb" /><Relationship Type="http://schemas.openxmlformats.org/officeDocument/2006/relationships/slide" Target="/ppt/slides/slide7.xml" Id="Rad782fbbe8384128" /><Relationship Type="http://schemas.openxmlformats.org/officeDocument/2006/relationships/slide" Target="/ppt/slides/slide8.xml" Id="R0885c1648ba94914" /><Relationship Type="http://schemas.openxmlformats.org/officeDocument/2006/relationships/slide" Target="/ppt/slides/slide9.xml" Id="R155ff6ed731640ac" /><Relationship Type="http://schemas.openxmlformats.org/officeDocument/2006/relationships/slide" Target="/ppt/slides/slide10.xml" Id="R65d03e28fd794c20" /><Relationship Type="http://schemas.openxmlformats.org/officeDocument/2006/relationships/slide" Target="/ppt/slides/slide11.xml" Id="R275fca3e43c942d0" /><Relationship Type="http://schemas.openxmlformats.org/officeDocument/2006/relationships/slide" Target="/ppt/slides/slide12.xml" Id="Ra4d96a8b93634953" /><Relationship Type="http://schemas.openxmlformats.org/officeDocument/2006/relationships/slide" Target="/ppt/slides/slide13.xml" Id="R475a412f8b9541c0" /><Relationship Type="http://schemas.openxmlformats.org/officeDocument/2006/relationships/slide" Target="/ppt/slides/slide14.xml" Id="R1f82e9b2a2084af1" /><Relationship Type="http://schemas.openxmlformats.org/officeDocument/2006/relationships/slide" Target="/ppt/slides/slide15.xml" Id="Re7e6e551af0f4b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5c4b4b229045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637fd8b6e49c0" /><Relationship Type="http://schemas.openxmlformats.org/officeDocument/2006/relationships/notesMaster" Target="/ppt/notesMasters/notesMaster1.xml" Id="Ref3d1d657e4346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e5963ae6dc48d0" /><Relationship Type="http://schemas.openxmlformats.org/officeDocument/2006/relationships/notesMaster" Target="/ppt/notesMasters/notesMaster1.xml" Id="Rcba1d84c2f5243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6a18fcad844074" /><Relationship Type="http://schemas.openxmlformats.org/officeDocument/2006/relationships/notesMaster" Target="/ppt/notesMasters/notesMaster1.xml" Id="R71ff52e22cd3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308149469540c4" /><Relationship Type="http://schemas.openxmlformats.org/officeDocument/2006/relationships/notesMaster" Target="/ppt/notesMasters/notesMaster1.xml" Id="Re3d1263c0c424a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72c2c770d04b23" /><Relationship Type="http://schemas.openxmlformats.org/officeDocument/2006/relationships/notesMaster" Target="/ppt/notesMasters/notesMaster1.xml" Id="R9231cc2a203642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43f28a941145c8" /><Relationship Type="http://schemas.openxmlformats.org/officeDocument/2006/relationships/notesMaster" Target="/ppt/notesMasters/notesMaster1.xml" Id="R76ca41a9ba0a4c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c8de912c624fb4" /><Relationship Type="http://schemas.openxmlformats.org/officeDocument/2006/relationships/notesMaster" Target="/ppt/notesMasters/notesMaster1.xml" Id="R030821a49af845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45aa5225cc4770" /><Relationship Type="http://schemas.openxmlformats.org/officeDocument/2006/relationships/notesMaster" Target="/ppt/notesMasters/notesMaster1.xml" Id="R7a033e7ab72e46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e1a378c1ee4a2d" /><Relationship Type="http://schemas.openxmlformats.org/officeDocument/2006/relationships/notesMaster" Target="/ppt/notesMasters/notesMaster1.xml" Id="R66896006311c4d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c79aef3aae41ac" /><Relationship Type="http://schemas.openxmlformats.org/officeDocument/2006/relationships/notesMaster" Target="/ppt/notesMasters/notesMaster1.xml" Id="R5483fe2272604a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6ff93a388e4c2c" /><Relationship Type="http://schemas.openxmlformats.org/officeDocument/2006/relationships/notesMaster" Target="/ppt/notesMasters/notesMaster1.xml" Id="R8d399e2c2c3847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e303936f2649d4" /><Relationship Type="http://schemas.openxmlformats.org/officeDocument/2006/relationships/notesMaster" Target="/ppt/notesMasters/notesMaster1.xml" Id="R237bb69e7fc24c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dc48e4270a4a89" /><Relationship Type="http://schemas.openxmlformats.org/officeDocument/2006/relationships/notesMaster" Target="/ppt/notesMasters/notesMaster1.xml" Id="R19d52a121f3a41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e3abe5d0564aa7" /><Relationship Type="http://schemas.openxmlformats.org/officeDocument/2006/relationships/notesMaster" Target="/ppt/notesMasters/notesMaster1.xml" Id="R212781e4b82647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d46b5d57e04106" /><Relationship Type="http://schemas.openxmlformats.org/officeDocument/2006/relationships/notesMaster" Target="/ppt/notesMasters/notesMaster1.xml" Id="Rc8efcd57861f4d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65f80adf94f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8f5f7b34ec4ecb" /><Relationship Type="http://schemas.openxmlformats.org/officeDocument/2006/relationships/slideLayout" Target="/ppt/slideLayouts/slideLayout1.xml" Id="R96ed5d9d787a4d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ed5d9d787a4d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53e365f9745c3" /><Relationship Type="http://schemas.openxmlformats.org/officeDocument/2006/relationships/notesSlide" Target="/ppt/notesSlides/notesSlide1.xml" Id="R297127b68f3d4e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5db26d97f406c" /><Relationship Type="http://schemas.openxmlformats.org/officeDocument/2006/relationships/notesSlide" Target="/ppt/notesSlides/notesSlide2.xml" Id="R229103fe2b13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1f12b7a104721" /><Relationship Type="http://schemas.openxmlformats.org/officeDocument/2006/relationships/notesSlide" Target="/ppt/notesSlides/notesSlide3.xml" Id="R9d1d2b3b92cc4b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7dd3f849548ae" /><Relationship Type="http://schemas.openxmlformats.org/officeDocument/2006/relationships/notesSlide" Target="/ppt/notesSlides/notesSlide4.xml" Id="Rc134675a5bb94d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cc14d577a401b" /><Relationship Type="http://schemas.openxmlformats.org/officeDocument/2006/relationships/notesSlide" Target="/ppt/notesSlides/notesSlide5.xml" Id="Ra8a69149e97c4b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4276f94f74a37" /><Relationship Type="http://schemas.openxmlformats.org/officeDocument/2006/relationships/notesSlide" Target="/ppt/notesSlides/notesSlide6.xml" Id="Rbf683e875a2d43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a29ec2c764dc3" /><Relationship Type="http://schemas.openxmlformats.org/officeDocument/2006/relationships/notesSlide" Target="/ppt/notesSlides/notesSlide7.xml" Id="R4f78ce4f2292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167431e474851" /><Relationship Type="http://schemas.openxmlformats.org/officeDocument/2006/relationships/notesSlide" Target="/ppt/notesSlides/notesSlide8.xml" Id="R4e36d0099a0b40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fd72a0b434abf" /><Relationship Type="http://schemas.openxmlformats.org/officeDocument/2006/relationships/notesSlide" Target="/ppt/notesSlides/notesSlide9.xml" Id="R2313b20a063547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de812e0e64000" /><Relationship Type="http://schemas.openxmlformats.org/officeDocument/2006/relationships/notesSlide" Target="/ppt/notesSlides/notesSlide10.xml" Id="Rd0cd5b0b52194f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61f744ff84ca1" /><Relationship Type="http://schemas.openxmlformats.org/officeDocument/2006/relationships/notesSlide" Target="/ppt/notesSlides/notesSlide11.xml" Id="R1a31995446cd48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dda70f59944af" /><Relationship Type="http://schemas.openxmlformats.org/officeDocument/2006/relationships/notesSlide" Target="/ppt/notesSlides/notesSlide12.xml" Id="Rbaf233a8dfde45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fd10e4e7c4d4b" /><Relationship Type="http://schemas.openxmlformats.org/officeDocument/2006/relationships/notesSlide" Target="/ppt/notesSlides/notesSlide13.xml" Id="Rd93535dbce0543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29adf13c84ae2" /><Relationship Type="http://schemas.openxmlformats.org/officeDocument/2006/relationships/notesSlide" Target="/ppt/notesSlides/notesSlide14.xml" Id="R0558ae36fb8d45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86d3fb8aa46de" /><Relationship Type="http://schemas.openxmlformats.org/officeDocument/2006/relationships/notesSlide" Target="/ppt/notesSlides/notesSlide15.xml" Id="Rbed6830ff00b41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87F5C-D1A6-48F5-9E86-25D6C531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DE9D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DE9DD"/>
                </a:solidFill>
                <a:latin typeface="Aptos"/>
                <a:ea typeface="Aptos"/>
                <a:cs typeface="Aptos"/>
              </a:rPr>
              <a:t>ДЕПАРТАМЕНТ ОБРАЗОВАНИЯ И НАУКИ ГОРОДА МОСКВЫ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31E77-50C8-4864-8AB0-B65901BE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8BB8F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8BB8F0"/>
                </a:solidFill>
                <a:latin typeface="Aptos"/>
                <a:ea typeface="Aptos"/>
                <a:cs typeface="Aptos"/>
              </a:rPr>
              <a:t>ГБПОУ города Москвы «Колледж связи №54» имени П.М. Вострухина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4FF7E-F827-4EDA-9555-438F864C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66800"/>
            <a:ext cx="742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610D7-BF47-4F19-80B2-1B0587A8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478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Выпускная квалификационная работа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4A863-8D7F-4B60-B071-E794ACAB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«Разработка программного комплекса учета и анализа компьютерной активности пользователей»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41A9B-0DE0-4729-9D5F-E650576C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576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9C2B5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C9C2B5"/>
                </a:solidFill>
                <a:latin typeface="Georgia"/>
                <a:ea typeface="Georgia"/>
                <a:cs typeface="Georgia"/>
              </a:rPr>
              <a:t>Выполнил студент группы 4-ИСП9-33 Кан Юрий Викторович</a:t>
            </a:r>
          </a:p>
          <a:p xmlns:a="http://schemas.openxmlformats.org/drawingml/2006/main">
            <a:pPr algn="ctr">
              <a:defRPr sz="1800" b="0" i="0">
                <a:solidFill>
                  <a:srgbClr val="C9C2B5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C9C2B5"/>
                </a:solidFill>
                <a:latin typeface="Georgia"/>
                <a:ea typeface="Georgia"/>
                <a:cs typeface="Georgia"/>
              </a:rPr>
              <a:t>Руководитель: Карташова Ю.С.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1C239-4AE9-40ED-B1E3-3F60E3EB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111545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468A5-0528-405D-A993-49CCAA9F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Актуальность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96A23-472D-43A1-840A-CB4CCC0C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E66F5-60CE-4573-AC84-B975676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526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1C90F-6A21-43DB-AF33-F21DE26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7335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Рабочие процессы организаций переходят в цифровую среду и формируют непрерывный поток событий.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469A6-566F-4209-9B02-E89C84AF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3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A1626-028D-4277-B9F1-C0F8745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Администратору важно видеть действия пользователей, состояние рабочих станций и возможные инциденты.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63C28-30F9-41A1-A04F-7B7C6F7C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14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57734-6388-4AE5-962C-8B01E06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956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Разрозненные локальные журналы не дают целостной картины по пользователю, устройству, времени и уровню риска.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96667-3197-446C-B7D6-51B55872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77198-0774-401C-A297-3C6C1766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7670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Необходима система, которая собирает телеметрию, выявляет аномалии и предоставляет управленчески полезные данные.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AF7C8-54D5-4A7F-931B-E43124C2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C5010-81FA-42D7-88C1-FD58DBC1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9466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FD9FCC-9B13-4A04-924B-963C8E59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Объект, предмет и цель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E41F1-A592-4FE7-97AD-2F745E4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AE829-0E78-44CE-A2D8-FAC96B8D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Объект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97EE9-E6B1-4B7A-84C7-2919978B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002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процесс создания системы учета и анализа компьютерной активности пользователей.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17AC3-4D77-4A45-B25E-21471A1F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2D"/>
          </a:solidFill>
          <a:ln xmlns:a="http://schemas.openxmlformats.org/drawingml/2006/main" w="0">
            <a:solidFill>
              <a:srgbClr val="2D2D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E9BFD-0EBB-4C24-9A88-5DE6D5E5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Предмет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B0222-B72C-4D78-91E6-2BA6507D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архитектурные и программные решения для сбора, передачи, хранения, анализа и представления событий активности.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F548C-93D9-4643-81FB-C737D30C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2D"/>
          </a:solidFill>
          <a:ln xmlns:a="http://schemas.openxmlformats.org/drawingml/2006/main" w="0">
            <a:solidFill>
              <a:srgbClr val="2D2D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BBA2C-C5F7-44A3-A669-509C195B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Цель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D97DC-B6AC-40E5-B3D8-78FE598D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разработать и обосновать программный комплекс, обеспечивающий сбор телеметрии, выявление аномалий, аналитику и управление endpoint-агентами.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64CF2-326D-490E-BC74-E9DF105F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D5044-87FF-4EE5-A840-E520270D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819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7880A-9A1A-4459-BC12-D8F3F237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Задачи дипломной работы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65FF2-7549-43A6-8838-2D9FADDE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1043A-2800-4E7B-9E6A-37E21A0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62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C2C7E-8F84-4948-B5E3-735ECE18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43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Провести анализ предметной области и сформулировать требования к системе.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A5A19-D42A-465D-8901-8E424F0E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FDF21-1627-46F5-B99E-ED24667D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Спроектировать архитектуру, модель данных и контур управления агентами.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23086-CF71-4119-8848-7376A316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57A1D-9C9D-44A9-933B-91C8ECB6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Реализовать backend-сервисы, frontend-приложение и асинхронный обмен событиями.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97828-0B44-4F99-8F21-51913C13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9AC29-D719-4F8F-8162-D684DC12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Организовать хранение данных в PostgreSQL и доставку событий через RabbitMQ.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958C4-8F05-4BE2-8B56-D11B0333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A80D7-C172-41BC-ACAF-E3B7F4DE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Разработать локальный endpoint-агент и механизм политик/команд.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6E78A-650F-426F-86AE-33AF1146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91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88BAD-CC81-476D-8E5B-65D6FCA0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72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Провести тестирование основных сценариев и подготовить пользовательскую документацию.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8A001-4666-44C3-BDE1-A02E092D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B183D-F929-4198-AB9A-9E78264C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6422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F6692-3FE9-4FB7-A195-8982DEFE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Предметная область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4710F-E2D0-441C-BBE7-709AF163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3AA90-81FE-4DDB-BDD6-8555B7EA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526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C7BBD-6892-4E1F-A4A5-0FBA3AC5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7335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Событие активности проходит путь от рабочей станции до административного решения.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6CC9E-A1FA-400A-A250-4A123A0A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3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95D6A-DE04-4B1F-BF91-A3AB6EDF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Endpoint-агент фиксирует разрешенные технические признаки активности.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A5A12-10F0-4D4E-B630-75FFF29A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14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2A316-410A-47C9-ACC2-8CFCE801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956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Серверный контур проверяет событие, сохраняет его, рассчитывает риск и формирует производные данные.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B1DC0-ED30-4502-B55B-AB563062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00AA7-3128-4378-8EEC-D458EF34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7670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Результат отображается в виде метрик, уведомлений, отчетов, аналитики и статусов агентов.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8D8F6-DBBA-4FE1-9182-A4EDA464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20D02-4A47-41D5-8828-30CE6280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2056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9A45E-DF57-4368-B156-15BA31E8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Архитектура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2EB30-76EA-43B6-A40A-020E2722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1F5EB-6EC5-4403-A8BE-42A2D05A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62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1B629-0E6D-436E-AE0E-B100B936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43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Frontend React взаимодействует только с API Gateway по REST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65221-3926-438D-9662-44FA7FC1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AEAD8-53CA-43BE-A1B0-0BD96736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Gateway маршрутизирует запросы к внутренним gRPC-сервисам и выполняет авторизацию.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D1AD2-3D02-4E9E-9748-A1E84746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D0310-2DD7-4390-AB33-7253534C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Доменные сервисы разделены по ответственности: активность, пользователи, авторизация, метрики, уведомления, отчеты и агенты.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72AD3-80AA-4080-8633-3C36085E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F3D1B-2C0A-47AD-9016-441AB378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Асинхронная обработка событий построена через RabbitMQ.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84D41-8A27-47AA-95DF-3ED8EAEB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9EBE5-DC6E-48D4-82A3-4D41FBE1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Каждый ключевой сервис использует собственную базу PostgreSQL.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3CDB7-8BA6-495F-BC5D-12A90B7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1647D-61BB-4D6D-BA78-CB47E535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4864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E4B5B-4762-4966-B713-A7CCB5DB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Состав backend-сервисов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11DD2-3E1B-4F40-9DFD-75FC9CD3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5FF38-59FE-4BFF-A681-70FEAA4C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62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454C5-5D08-4866-8662-E1BE9918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43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AuthService — вход, роли, сессии, JWT и refresh-токены.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06F6E-866C-4A95-B8FB-BD125F32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ED01B-13EB-49F9-92AA-569A5300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UserService — пользователи, компьютеры и связь пользователь-компьютер.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D7670-093D-4955-AF43-F9AA6638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1A9F0-989B-4C91-9DE0-3702360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ActivityService — прием активности, сохранение, риск-оценка и аномалии.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01950-4808-4090-A3E5-2CC3F8ED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5902C-F980-45B6-8276-7DD553EA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MetricsService, NotificationService, ReportService — производные представления, уведомления и отчеты.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57595-6B3C-44B0-9C61-79B0413A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0B227-F4D2-4047-966D-61688DA3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AgentManagementService — регистрация агентов, heartbeat, политики, версии и команды.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5ED1E-C109-43DC-BD40-6811F4B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593BA-FC53-4258-939B-EA98C433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9128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74F329-9A31-475A-9996-33D1001A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Данные и интеграция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DBC9B-1641-4F16-AEDF-2BB4CA6B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E9C84-FFF7-4C6E-B038-3441856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62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6CA32-4F6F-4D93-828D-571703CD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43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Для хранения используются отдельные базы: activities, auth, users, metrics, notifications, reports и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570C7-DE1E-44FE-A590-F49B7D07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AA01D-26E8-4261-BDBD-2EBD39AB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Внутренние контракты сервисов описываются protobuf-файлами.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A916C-0EE7-42A9-B698-4FDE9E60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D8071-F31F-433F-88E5-4C821F43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Outbox/Inbox снижает риск потери и повторной неконтролируемой обработки событий.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600FE-8119-4143-A78A-34F41129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4DB15-8738-4F90-9745-12E1E927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SSE-канал используется для live-обновлений веб-панели.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6F09B-8F9D-47B7-B54D-E8D55DAE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61970-79CC-4D60-8594-72852F8E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Docker Compose объединяет frontend, gateway, сервисы, RabbitMQ, PostgreSQL и наблюдаемость.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70B63-2F31-487C-845B-18A28D40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B3FAF-9087-414A-9E8C-C6F01A36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1515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589E4-7E88-46A3-A422-57D8D563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Локальный endpoint-агент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8E7BA-67D7-4361-BCCD-D0F86575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1AECC-CBD8-4777-9CD0-5AE902C6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62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443D2-7EF3-4D87-AC58-188855E4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43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Собирает технические события: процессы, активное окно, idle time, браузерную активность, файлы, USB и сетевые соединения.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5DFC4-7929-40F0-B360-AB230A68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C0362-ADBE-4E7A-BC45-621D1993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Передает события в ActivityService и heartbeat в AgentManagementService.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4E444-5A67-4964-AA14-0D1FF577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E380F-E169-49BC-955A-A8FF73C6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Использует локальную SQLite-очередь при временной потере связи.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C78ED-A774-4D76-966E-592A258E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253CA-8189-4F62-AE7D-DA6AF7D0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Получает политики, применяет настройки мониторинга и выполняет команды администратора.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D37C5-0B48-4F9F-9222-F3055B6B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8EB00-BA1C-48A8-AE6E-2971F169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Не собирает вводимые пароли, полный текст пользовательского ввода и содержимое переписки.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35B67-F2B6-46D8-AD52-E2C634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1292E-CFD3-4C08-BE8E-48C5E42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60746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F7CAA1-C66F-4BDF-8BFA-2E2DF417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Веб-панель администратора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FAF58-B42B-475B-AB30-5A35126D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92868-1572-4FD8-8EEB-12AC5C07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62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7C455-E54B-4168-A9CA-E760ABB0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43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Dashboard — оперативные KPI, последние активности, тревоги и live-состояние.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F9B4C-2A48-4C14-A68C-00DF8A5E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95C4F-B51B-4D10-8BA9-51AAAC4F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Analytics — анализ активности за день, неделю, месяц или произвольный период.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E998A-8F42-454D-81EF-CB91ED56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E8C2E-E858-4D9D-A9AD-38400A43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Reports — отчеты, тренды, агрегаты и экспорт данных.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AA510-22BC-4992-8EB6-BFEF9A36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1CB8D-9894-4739-B1C6-99E8A685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Agents — статусы агентов, политики, команды и история версий.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4DDD2-28A5-4D3A-B7FA-D5A3F133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AD4D3-DE1B-430C-BEA2-059DA34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Users и Settings — пользователи, компьютеры, безопасность, уведомления, списки доступа и аудит.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114E1-F571-4618-B6B4-3F1DBE5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E0694-A59E-4098-A388-0653A050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1445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C719C-0BA8-4B3B-830A-8682764A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Управление агентами и политиками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FFC2E-A2C8-4A3C-9A87-6FBFE6A9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B8D15-698C-4321-904A-B14FF472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62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3930A-1BF7-45AA-820E-9BBA70B4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43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Heartbeat передает состояние агента, размер очереди, ошибки, версию политики и capabilities.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F5107-B967-4D0F-B171-D78AA264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80480-9EB0-4D12-8F47-24F103F7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Политики задают интервалы сбора, источники данных, пороги риска и параметры блокировки.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4F939-EBD8-4C1A-81AB-6F3C833E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E04D4-522F-4722-9121-6B0F9FBB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История версий позволяет восстановить предыдущую политику.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8309E-DBBE-4BAF-8ABD-67EA997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BF2D0-411E-4571-B16C-8CAC2F2C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Команды проходят жизненный цикл: pending, running, success, failed, timeout, deadletter.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25331-FE47-4AFB-9805-22E9F850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3ADDA-739A-4753-887E-436CA2D1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Администратор может выполнить блокировку или разблокировку рабочей станции через панель.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7A3EE-D82D-4B0B-9BC1-D05144A7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CE7CC-47A1-4A0E-9AF6-EB71633D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22690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79C92-EA74-4043-8150-C34AE956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Безопасность и надежность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129D8-BA24-41D0-93A4-10BBC35D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39292-28D9-45C2-85BD-7C37392D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62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BA593-7A6E-4182-A601-08FA5DCC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43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Пользователи проходят аутентификацию по логину и паролю, доступ ограничивается ролями.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23FE7-C43F-4F35-827F-243C40AA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5C707-4CA7-4FB7-829D-FCBD2710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Frontend работает через Gateway с JWT, агенты — по gRPC с транспортным токеном.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DD23F-3658-4F2B-9E75-FC8616B9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A771A-236B-483C-AE7D-12F2FB81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Административные действия фиксируются в журнале аудита.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B07AC-A8F8-48D2-B195-52C86009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88943-242B-4340-8D21-A2532037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Секреты, пароли БД, JWT-ключи и токены агентов хранятся в переменных окружения.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D9DAC-0D73-45E1-8211-6C206778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69699-26C0-4913-A193-933CE125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Надежность повышают локальная очередь агента, health-checks, Docker Compose и контур наблюдаемости.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18181-FC76-4372-B54B-22714FDE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EA8E1-5F7D-45C9-A093-B872A821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6200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1B322-9513-4AD7-A00A-FD636325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Тестирование и развертывание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12C09-5163-4572-A96C-B57E4356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EA0DE-4317-46BA-8ACF-FB2199CD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621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C6BCF-09FB-44D6-B5EE-1A068247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430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Проверены вход в систему, защищенные разделы панели, настройки, пользователи, агенты и завершение сессии.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C2C28-6E0B-438A-B19C-8C433372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44E3F-12D5-4640-A29F-35440B38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288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Smoke E2E-сценарий проверяет ключевые пользовательские и административные операции.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ABAFE-8AD4-4377-8C1E-14D0BA5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1EE16-4753-4C0C-B8CB-664FC7F5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API Gateway и backend-сервисы проверяются через health endpoints и защищенные запросы.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955A7-F35E-407F-BFFF-995CE50E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87F0C-0176-4CB0-AD91-C722C071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04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Демонстрационный стенд подтверждает доступность интерфейса и серверного контура.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78AAB-0E48-4BA3-9063-9B391FBC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E1539-93B3-4502-A66F-14FBE4B9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Скриншоты основных экранов включены в материалы дипломной работы.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5FD16-0E8E-4070-8F67-EAA9681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70A32-7438-40F4-A214-74D2D0C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18878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53D9F6-810D-4181-8210-8729DF8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Результаты работы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70EB6-EF7C-44CA-9CAF-65AC4E16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220D9-8A11-4757-8971-68F55FF6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526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5E3F0-7F14-4509-AB80-92F23EE5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7335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Разработана система полного цикла: от сбора активности на рабочей станции до аналитики в веб-панели.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0A050-AE71-42C3-91BC-0DA16C6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33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7EE16-3E24-4795-AA67-F94C4894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Реализованы микросервисы, базы данных, RabbitMQ-интеграция, frontend и endpoint-агент.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6FD3B-4A3F-430F-8303-CD7508C8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147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7E8B6-6401-4D0F-A111-FF4A93E7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956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Подготовлены Docker-конфигурации, документация и руководство пользователя.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F23C3-C17F-4A92-9C3E-1DB6B01E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F28C28"/>
                </a:solidFill>
                <a:latin typeface="Georgia"/>
                <a:ea typeface="Georgia"/>
                <a:cs typeface="Georgia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B3119-5BDA-49E4-9DFD-9CDF1A12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7670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3EFE5"/>
                </a:solidFill>
                <a:latin typeface="Georgia"/>
                <a:ea typeface="Georgia"/>
                <a:cs typeface="Georgia"/>
              </a:rPr>
              <a:t>Система может использоваться как основа для дальнейшего развития корпоративного мониторинга.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A035A-282E-45ED-8DE5-A2B9174B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Activity Monitoring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176D3-B5E2-4027-AC0D-D03E2FBE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D8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D877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887574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F8BB3-49AA-4512-8A08-5BDA3E14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EDE9DD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EDE9DD"/>
                </a:solidFill>
                <a:latin typeface="Georgia"/>
                <a:ea typeface="Georgia"/>
                <a:cs typeface="Georgia"/>
              </a:rPr>
              <a:t>Благодарю за внимание!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A1CEB-470C-4170-8F18-A9554558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A0D07-3C90-421C-A9C2-8E947186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671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9C2B5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C9C2B5"/>
                </a:solidFill>
                <a:latin typeface="Georgia"/>
                <a:ea typeface="Georgia"/>
                <a:cs typeface="Georgia"/>
              </a:rPr>
              <a:t>Готов ответить на ваши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968681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2026-06-15T18:25:29.0220000Z</dcterms:created>
  <dcterms:modified xsi:type="dcterms:W3CDTF">2026-06-15T18:25:29.0220000Z</dcterms:modified>
</coreProperties>
</file>